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Aptos Slab SemiBold" panose="020B0004020202020204" pitchFamily="34" charset="0"/>
      <p:bold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  <p:embeddedFont>
      <p:font typeface="Open Sans" panose="020B060603050402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1F26"/>
    <a:srgbClr val="DF15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16C1AB-B9F5-40D1-AB1A-EEC7BBD13A31}">
  <a:tblStyle styleId="{A416C1AB-B9F5-40D1-AB1A-EEC7BBD13A3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08BAE8-2B3F-7748-CEB8-56E94D1FE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85" name="Google Shape;85;p13"/>
          <p:cNvSpPr txBox="1"/>
          <p:nvPr/>
        </p:nvSpPr>
        <p:spPr>
          <a:xfrm>
            <a:off x="2856884" y="4144297"/>
            <a:ext cx="641032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E01F26"/>
                </a:solidFill>
                <a:latin typeface="Open Sans"/>
                <a:ea typeface="Open Sans"/>
                <a:cs typeface="Open Sans"/>
                <a:sym typeface="Open Sans"/>
              </a:rPr>
              <a:t>Insights from Square Yards Data - Pune &amp; Mumbai</a:t>
            </a:r>
            <a:endParaRPr dirty="0">
              <a:solidFill>
                <a:srgbClr val="E01F26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696627" y="3452783"/>
            <a:ext cx="6730841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 dirty="0">
                <a:solidFill>
                  <a:srgbClr val="E01F26"/>
                </a:solidFill>
                <a:latin typeface="Montserrat"/>
                <a:ea typeface="Montserrat"/>
                <a:cs typeface="Montserrat"/>
                <a:sym typeface="Montserrat"/>
              </a:rPr>
              <a:t>Rental Market Analysis</a:t>
            </a:r>
            <a:endParaRPr dirty="0">
              <a:solidFill>
                <a:srgbClr val="E01F26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968A86A-EA2B-351B-8C2C-B81BE1096E94}"/>
              </a:ext>
            </a:extLst>
          </p:cNvPr>
          <p:cNvSpPr/>
          <p:nvPr/>
        </p:nvSpPr>
        <p:spPr>
          <a:xfrm>
            <a:off x="5142271" y="3962400"/>
            <a:ext cx="1839554" cy="36379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835615-F647-5105-CB90-B4D261ECFC3C}"/>
              </a:ext>
            </a:extLst>
          </p:cNvPr>
          <p:cNvSpPr txBox="1"/>
          <p:nvPr/>
        </p:nvSpPr>
        <p:spPr>
          <a:xfrm>
            <a:off x="415543" y="6046838"/>
            <a:ext cx="45621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Aptos Slab SemiBold" panose="020F0502020204030204" pitchFamily="34" charset="0"/>
              </a:rPr>
              <a:t>Presented By: Jayesh Patil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952500" y="1638300"/>
            <a:ext cx="485775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143000" y="1828800"/>
            <a:ext cx="4476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r>
              <a:rPr lang="en-US" sz="195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 Business Objectives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952500" y="2781300"/>
            <a:ext cx="485775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143000" y="2971800"/>
            <a:ext cx="4476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r>
              <a:rPr lang="en-US" sz="195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 Dataset Overview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952500" y="3924300"/>
            <a:ext cx="485775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143000" y="4114800"/>
            <a:ext cx="4476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r>
              <a:rPr lang="en-US" sz="195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 Market Distribution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952500" y="5067300"/>
            <a:ext cx="485775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1143000" y="5257800"/>
            <a:ext cx="4476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r>
              <a:rPr lang="en-US" sz="195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 Property Trends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6381750" y="1638300"/>
            <a:ext cx="485775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572250" y="1828800"/>
            <a:ext cx="4476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r>
              <a:rPr lang="en-US" sz="195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 Micro-Market Analysis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6381750" y="2781300"/>
            <a:ext cx="485775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6572250" y="2971800"/>
            <a:ext cx="4476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r>
              <a:rPr lang="en-US" sz="195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 City-Specific Highlights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6381750" y="3924300"/>
            <a:ext cx="4857750" cy="8572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572250" y="4202884"/>
            <a:ext cx="4476750" cy="30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r>
              <a:rPr lang="en-US" sz="1950" b="0" i="0" u="none" strike="noStrike" cap="none" dirty="0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 Conclusion</a:t>
            </a:r>
            <a:endParaRPr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295275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Table of Contents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054DBA5-B424-8F72-65A8-AC85BF8B7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4049" y="6431243"/>
            <a:ext cx="2017951" cy="4267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369641"/>
            <a:ext cx="5381625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38875" y="2369641"/>
            <a:ext cx="5381625" cy="20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684216"/>
            <a:ext cx="5381625" cy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4684216"/>
            <a:ext cx="5381625" cy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4875" y="2655391"/>
            <a:ext cx="47625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571500" y="1257300"/>
            <a:ext cx="85725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To analyze rental market dynamics in Pune and Mumbai, providing actionable data for investment decisions and competitive benchmarking.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04875" y="3055441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Differentiate market positioning between Mumbai (Premium) and Pune (Value) to target the correct tenant demographics.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572250" y="3055441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Establish rental benchmarks per square foot to identify undervalued properties and maximize rental yield.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04875" y="5370016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Identify preferred configurations (BHK) to guide future inventory acquisition and development focus.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572250" y="5370016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Pinpoint high-supply micro-markets (e.g., IT hubs like Hinjewadi) to focus marketing and acquisition efforts.</a:t>
            </a:r>
            <a:endParaRPr/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72250" y="2655391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875" y="4969966"/>
            <a:ext cx="3429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72250" y="4969966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Business Objectives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1390650" y="2669678"/>
            <a:ext cx="270033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498DB"/>
                </a:solidFill>
                <a:latin typeface="Montserrat"/>
                <a:ea typeface="Montserrat"/>
                <a:cs typeface="Montserrat"/>
                <a:sym typeface="Montserrat"/>
              </a:rPr>
              <a:t>Market Segmentation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7019925" y="2669678"/>
            <a:ext cx="2000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498DB"/>
                </a:solidFill>
                <a:latin typeface="Montserrat"/>
                <a:ea typeface="Montserrat"/>
                <a:cs typeface="Montserrat"/>
                <a:sym typeface="Montserrat"/>
              </a:rPr>
              <a:t>Pricing Strategy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1390650" y="4984253"/>
            <a:ext cx="26003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498DB"/>
                </a:solidFill>
                <a:latin typeface="Montserrat"/>
                <a:ea typeface="Montserrat"/>
                <a:cs typeface="Montserrat"/>
                <a:sym typeface="Montserrat"/>
              </a:rPr>
              <a:t>Demand Forecasting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7058025" y="4984253"/>
            <a:ext cx="26003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498DB"/>
                </a:solidFill>
                <a:latin typeface="Montserrat"/>
                <a:ea typeface="Montserrat"/>
                <a:cs typeface="Montserrat"/>
                <a:sym typeface="Montserrat"/>
              </a:rPr>
              <a:t>Location Intelligence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BCAE8A-5252-44EB-A1AB-9B59775A75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54999" y="0"/>
            <a:ext cx="2017951" cy="4267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27000"/>
          </a:srgbClr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762000" y="2243137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A comprehensive analysis of the rental real estate landscape in two of India's major metropolitan hubs.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62000" y="3586162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38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Total Listings:</a:t>
            </a:r>
            <a:r>
              <a:rPr lang="en-US" sz="165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 669 Properties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62000" y="4062412"/>
            <a:ext cx="4572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95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Key Markets:</a:t>
            </a:r>
            <a:r>
              <a:rPr lang="en-US" sz="165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 Pune &amp; Mumbai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62000" y="4538662"/>
            <a:ext cx="4572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24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Focus Areas:</a:t>
            </a:r>
            <a:r>
              <a:rPr lang="en-US" sz="165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 Price, Location, Configuration</a:t>
            </a:r>
            <a:endParaRPr/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633787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110037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4586287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762000" y="1557337"/>
            <a:ext cx="48006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Dataset Overview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CBB093-9CE2-3772-0EC3-99EF74BC81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74" y="0"/>
            <a:ext cx="2017951" cy="4267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F3EE3EE-9E6B-4551-2417-BC3D1DF469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47300" y="1"/>
            <a:ext cx="4843409" cy="6858000"/>
          </a:xfrm>
          <a:prstGeom prst="rect">
            <a:avLst/>
          </a:prstGeom>
          <a:solidFill>
            <a:srgbClr val="FFFFFF">
              <a:alpha val="50000"/>
            </a:srgbClr>
          </a:solidFill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/>
          <p:nvPr/>
        </p:nvSpPr>
        <p:spPr>
          <a:xfrm>
            <a:off x="9079783" y="-1085850"/>
            <a:ext cx="3810000" cy="3810000"/>
          </a:xfrm>
          <a:prstGeom prst="roundRect">
            <a:avLst>
              <a:gd name="adj" fmla="val 16667"/>
            </a:avLst>
          </a:prstGeom>
          <a:solidFill>
            <a:schemeClr val="bg2">
              <a:lumMod val="20000"/>
              <a:lumOff val="80000"/>
              <a:alpha val="33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571500" y="1257300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The dataset shows an almost equal distribution of rental listings between the two cities, indicating a balanced sample size for comparative analysis.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Listing Volume by City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A4CAF0-855B-7DEC-0B71-098C5C0AB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4049" y="6431243"/>
            <a:ext cx="2017951" cy="4267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23000"/>
          </a:srgbClr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/>
          <p:nvPr/>
        </p:nvSpPr>
        <p:spPr>
          <a:xfrm>
            <a:off x="-1068057" y="4361192"/>
            <a:ext cx="4041115" cy="4041115"/>
          </a:xfrm>
          <a:prstGeom prst="roundRect">
            <a:avLst>
              <a:gd name="adj" fmla="val 16667"/>
            </a:avLst>
          </a:prstGeom>
          <a:solidFill>
            <a:schemeClr val="bg2">
              <a:lumMod val="20000"/>
              <a:lumOff val="80000"/>
              <a:alpha val="27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1257300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A stark contrast in rental costs is evident. Mumbai's average rental price is approximately </a:t>
            </a:r>
            <a:r>
              <a:rPr lang="en-US" sz="1500" b="1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3x higher</a:t>
            </a:r>
            <a:r>
              <a:rPr lang="en-US" sz="150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 than Pune's, reflecting its status as a premium real estate market.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Average Rental Price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FE5C25-F2C2-02A2-64BC-FC1C5AB6D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4999" y="6381749"/>
            <a:ext cx="2017951" cy="4267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704975"/>
            <a:ext cx="11049000" cy="45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571500" y="12573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2 BHK apartments dominate the rental market, accounting for over half of all listings, followed by 3 BHK and 1 BHK units.</a:t>
            </a:r>
            <a:endParaRPr/>
          </a:p>
        </p:txBody>
      </p:sp>
      <p:pic>
        <p:nvPicPr>
          <p:cNvPr id="167" name="Google Shape;16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86662" y="2995612"/>
            <a:ext cx="1400175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7586662" y="3028950"/>
            <a:ext cx="1400175" cy="22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2 BHK (56%)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7586662" y="3429000"/>
            <a:ext cx="1400175" cy="22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3 BHK (22%)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7586662" y="3829050"/>
            <a:ext cx="1400175" cy="22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1 BHK (18%)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7586662" y="4229100"/>
            <a:ext cx="1400175" cy="22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4 BHK (3%)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7586662" y="4629150"/>
            <a:ext cx="1400175" cy="22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5 BHK (&lt;1%)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Configuration Trends (BHK)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3C4024-8E39-0755-B94A-9172F7D5D4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4049" y="6429375"/>
            <a:ext cx="2017951" cy="4267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/>
          <p:nvPr/>
        </p:nvSpPr>
        <p:spPr>
          <a:xfrm>
            <a:off x="8858250" y="-476250"/>
            <a:ext cx="3810000" cy="3810000"/>
          </a:xfrm>
          <a:prstGeom prst="roundRect">
            <a:avLst>
              <a:gd name="adj" fmla="val 16667"/>
            </a:avLst>
          </a:prstGeom>
          <a:solidFill>
            <a:srgbClr val="3498DB">
              <a:alpha val="8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1257300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Kharadi and Powai emerge as the leading hubs for rental inventory, indicating high activity and tenant demand in these specific localities.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Top 5 Micro-Markets (Supply)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4267DB-7E78-9648-BA60-57705ED543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0" y="6429375"/>
            <a:ext cx="2019300" cy="4286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5695950"/>
            <a:ext cx="1104900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571500" y="1257300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Analyzing the price per square foot provides a standardized comparison. Mumbai remains significantly more expensive, demanding a premium for space.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809625" y="5886450"/>
            <a:ext cx="743872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Insight:</a:t>
            </a:r>
            <a:endParaRPr dirty="0"/>
          </a:p>
        </p:txBody>
      </p:sp>
      <p:sp>
        <p:nvSpPr>
          <p:cNvPr id="190" name="Google Shape;190;p21"/>
          <p:cNvSpPr txBox="1"/>
          <p:nvPr/>
        </p:nvSpPr>
        <p:spPr>
          <a:xfrm>
            <a:off x="4857750" y="5886450"/>
            <a:ext cx="1493889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 u="none" strike="noStrike" cap="none" dirty="0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3x more space</a:t>
            </a:r>
            <a:endParaRPr dirty="0"/>
          </a:p>
        </p:txBody>
      </p:sp>
      <p:sp>
        <p:nvSpPr>
          <p:cNvPr id="191" name="Google Shape;191;p21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Price Efficiency (Cost per Sq. Ft.)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3E586B-1B23-E87E-42D6-B56D82387B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4049" y="6431243"/>
            <a:ext cx="2017951" cy="4267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/>
          <p:nvPr/>
        </p:nvSpPr>
        <p:spPr>
          <a:xfrm>
            <a:off x="-1068057" y="4361192"/>
            <a:ext cx="4041115" cy="4041115"/>
          </a:xfrm>
          <a:prstGeom prst="roundRect">
            <a:avLst>
              <a:gd name="adj" fmla="val 16667"/>
            </a:avLst>
          </a:prstGeom>
          <a:solidFill>
            <a:schemeClr val="accent1">
              <a:lumMod val="20000"/>
              <a:lumOff val="80000"/>
              <a:alpha val="59000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571500" y="12573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Based on Price per Square Foot, these micro-markets command the highest premiums in the dataset.</a:t>
            </a:r>
            <a:endParaRPr/>
          </a:p>
        </p:txBody>
      </p:sp>
      <p:graphicFrame>
        <p:nvGraphicFramePr>
          <p:cNvPr id="198" name="Google Shape;198;p22"/>
          <p:cNvGraphicFramePr/>
          <p:nvPr/>
        </p:nvGraphicFramePr>
        <p:xfrm>
          <a:off x="571500" y="1895475"/>
          <a:ext cx="11049000" cy="3476575"/>
        </p:xfrm>
        <a:graphic>
          <a:graphicData uri="http://schemas.openxmlformats.org/drawingml/2006/table">
            <a:tbl>
              <a:tblPr firstRow="1" bandRow="1">
                <a:noFill/>
                <a:tableStyleId>{A416C1AB-B9F5-40D1-AB1A-EEC7BBD13A31}</a:tableStyleId>
              </a:tblPr>
              <a:tblGrid>
                <a:gridCol w="168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5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Rank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Location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Price / Sq. Ft. (Avg)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Prabhat Road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Pune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₹555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Khar West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Mumbai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₹240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Mahalaxmi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Mumbai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₹223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Vasant Vihar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Mumbai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₹222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Colaba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Mumbai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4495E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₹211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9" name="Google Shape;199;p22"/>
          <p:cNvSpPr/>
          <p:nvPr/>
        </p:nvSpPr>
        <p:spPr>
          <a:xfrm>
            <a:off x="571500" y="3081337"/>
            <a:ext cx="168250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2254001" y="3081337"/>
            <a:ext cx="293503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5189041" y="3081337"/>
            <a:ext cx="203775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7226796" y="3081337"/>
            <a:ext cx="439370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571500" y="3652837"/>
            <a:ext cx="168250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2254001" y="3652837"/>
            <a:ext cx="293503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5189041" y="3652837"/>
            <a:ext cx="203775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7226796" y="3652837"/>
            <a:ext cx="439370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571500" y="4224337"/>
            <a:ext cx="168250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2254001" y="4224337"/>
            <a:ext cx="293503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5189041" y="4224337"/>
            <a:ext cx="203775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7226796" y="4224337"/>
            <a:ext cx="439370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571500" y="4795837"/>
            <a:ext cx="168250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2254001" y="4795837"/>
            <a:ext cx="2935039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5189041" y="4795837"/>
            <a:ext cx="203775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7226796" y="4795837"/>
            <a:ext cx="4393703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571500" y="571500"/>
            <a:ext cx="116014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Most Expensive Locations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66DDDF-0493-93BC-B7F0-A8FC32622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4999" y="6381749"/>
            <a:ext cx="2017951" cy="4267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0"/>
            <a:ext cx="6096000" cy="740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6858000" y="236220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Kharadi &amp; Hinjewadi: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 Driven by IT hubs, these areas show the highest listing volume, catering to working professionals.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6858000" y="4124325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Affordable &amp; Spacious: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 With an average rent of ₹37k and ₹38/sq.ft., Pune offers high value for money and larger living spaces.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6858000" y="588645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Hadapsar: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 Emerging as a strong secondary hub with significant inventory.</a:t>
            </a:r>
            <a:endParaRPr/>
          </a:p>
        </p:txBody>
      </p:sp>
      <p:pic>
        <p:nvPicPr>
          <p:cNvPr id="225" name="Google Shape;22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58000" y="1962150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0" y="37242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58000" y="548640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6858000" y="762000"/>
            <a:ext cx="4800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Pune Market Highlights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6858000" y="1943100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498DB"/>
                </a:solidFill>
                <a:latin typeface="Montserrat"/>
                <a:ea typeface="Montserrat"/>
                <a:cs typeface="Montserrat"/>
                <a:sym typeface="Montserrat"/>
              </a:rPr>
              <a:t>Key Micro-Markets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6858000" y="3705225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498DB"/>
                </a:solidFill>
                <a:latin typeface="Montserrat"/>
                <a:ea typeface="Montserrat"/>
                <a:cs typeface="Montserrat"/>
                <a:sym typeface="Montserrat"/>
              </a:rPr>
              <a:t>Market Character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6858000" y="5467350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71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498DB"/>
                </a:solidFill>
                <a:latin typeface="Montserrat"/>
                <a:ea typeface="Montserrat"/>
                <a:cs typeface="Montserrat"/>
                <a:sym typeface="Montserrat"/>
              </a:rPr>
              <a:t>Top Pick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6C1518-456D-EDCE-DB17-B6701C9EBF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4049" y="6431243"/>
            <a:ext cx="2017951" cy="4267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4BAA39-36A3-C143-E4AB-8B368388C17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-996278"/>
            <a:ext cx="5694408" cy="85457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6096000" cy="740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4"/>
          <p:cNvSpPr txBox="1"/>
          <p:nvPr/>
        </p:nvSpPr>
        <p:spPr>
          <a:xfrm>
            <a:off x="762000" y="2362200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Powai &amp; Andheri West: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 These established premium localities dominate the supply, offering lifestyle and connectivity.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762000" y="4124325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Premium Pricing: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 Average rents soar above ₹1.1 Lakhs. High density and demand drive the price per sq. ft. to ~₹109.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762000" y="5886450"/>
            <a:ext cx="457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Malad West:</a:t>
            </a:r>
            <a:r>
              <a:rPr lang="en-US" sz="1500" b="0" i="0" u="none" strike="noStrike" cap="none">
                <a:solidFill>
                  <a:srgbClr val="34495E"/>
                </a:solidFill>
                <a:latin typeface="Open Sans"/>
                <a:ea typeface="Open Sans"/>
                <a:cs typeface="Open Sans"/>
                <a:sym typeface="Open Sans"/>
              </a:rPr>
              <a:t> A robust mid-to-premium segment market with healthy inventory levels.</a:t>
            </a:r>
            <a:endParaRPr/>
          </a:p>
        </p:txBody>
      </p:sp>
      <p:pic>
        <p:nvPicPr>
          <p:cNvPr id="241" name="Google Shape;24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962150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7242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5486400"/>
            <a:ext cx="1714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/>
        </p:nvSpPr>
        <p:spPr>
          <a:xfrm>
            <a:off x="762000" y="762000"/>
            <a:ext cx="4800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C3E50"/>
                </a:solidFill>
                <a:latin typeface="Montserrat"/>
                <a:ea typeface="Montserrat"/>
                <a:cs typeface="Montserrat"/>
                <a:sym typeface="Montserrat"/>
              </a:rPr>
              <a:t>Mumbai Market Highlights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762000" y="1943100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498DB"/>
                </a:solidFill>
                <a:latin typeface="Montserrat"/>
                <a:ea typeface="Montserrat"/>
                <a:cs typeface="Montserrat"/>
                <a:sym typeface="Montserrat"/>
              </a:rPr>
              <a:t>Key Micro-Markets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762000" y="3705225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286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498DB"/>
                </a:solidFill>
                <a:latin typeface="Montserrat"/>
                <a:ea typeface="Montserrat"/>
                <a:cs typeface="Montserrat"/>
                <a:sym typeface="Montserrat"/>
              </a:rPr>
              <a:t>Market Character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762000" y="5467350"/>
            <a:ext cx="48006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14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498DB"/>
                </a:solidFill>
                <a:latin typeface="Montserrat"/>
                <a:ea typeface="Montserrat"/>
                <a:cs typeface="Montserrat"/>
                <a:sym typeface="Montserrat"/>
              </a:rPr>
              <a:t>Top Pick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ECF207-EC44-E043-A930-E1DCBD230E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2017951" cy="4267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3A134C-397A-18B5-7E66-E140321796F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0019" y="-997975"/>
            <a:ext cx="5891981" cy="78559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2190750" y="2698700"/>
            <a:ext cx="78105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7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Divergent Markets:</a:t>
            </a:r>
            <a:r>
              <a:rPr lang="en-US" sz="18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Mumbai and Pune cater to distinct segments—Premium vs. Value—despite similar listing volumes.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2190750" y="3620541"/>
            <a:ext cx="78105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7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 BHK is King:</a:t>
            </a:r>
            <a:r>
              <a:rPr lang="en-US" sz="18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The 2 BHK configuration is the undisputed market favorite, balancing space and affordability.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2190750" y="4542383"/>
            <a:ext cx="78105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71475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Location Matters:</a:t>
            </a:r>
            <a:r>
              <a:rPr lang="en-US" sz="1800" b="0" i="0" u="none" strike="noStrike" cap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IT corridors (Hinjewadi, Kharadi, Powai) are the primary drivers of rental supply in both cities.</a:t>
            </a:r>
            <a:endParaRPr/>
          </a:p>
        </p:txBody>
      </p:sp>
      <p:pic>
        <p:nvPicPr>
          <p:cNvPr id="256" name="Google Shape;25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90750" y="27653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90750" y="368721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90750" y="460905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1995487" y="1393775"/>
            <a:ext cx="8201025" cy="600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dirty="0">
                <a:solidFill>
                  <a:srgbClr val="FFFFFF"/>
                </a:solidFill>
                <a:latin typeface="Montserrat"/>
                <a:sym typeface="Montserrat"/>
              </a:rPr>
              <a:t>Conclusion</a:t>
            </a: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91D627F-E6B4-15C7-644A-0B5BBADE20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4049" y="6431243"/>
            <a:ext cx="2017951" cy="4267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</Words>
  <Application>Microsoft Office PowerPoint</Application>
  <PresentationFormat>Widescreen</PresentationFormat>
  <Paragraphs>87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Open Sans</vt:lpstr>
      <vt:lpstr>Montserrat</vt:lpstr>
      <vt:lpstr>Calibri</vt:lpstr>
      <vt:lpstr>Aptos Slab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Jayesh Salunke</cp:lastModifiedBy>
  <cp:revision>1</cp:revision>
  <dcterms:modified xsi:type="dcterms:W3CDTF">2025-11-21T16:32:01Z</dcterms:modified>
</cp:coreProperties>
</file>